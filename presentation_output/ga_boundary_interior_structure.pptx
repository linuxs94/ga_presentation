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dc7b10e2b540c3" /><Relationship Type="http://schemas.openxmlformats.org/officeDocument/2006/relationships/extended-properties" Target="/docProps/app.xml" Id="Re7bc9a67548b481d" /><Relationship Type="http://schemas.openxmlformats.org/officeDocument/2006/relationships/officeDocument" Target="/ppt/presentation.xml" Id="R8a6b5989832c46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a655012946e4779"/>
  </p:sldMasterIdLst>
  <p:notesMasterIdLst>
    <p:notesMasterId xmlns:r="http://schemas.openxmlformats.org/officeDocument/2006/relationships" r:id="Ra7110ead99944b01"/>
  </p:notesMasterIdLst>
  <p:sldIdLst>
    <p:sldId xmlns:r="http://schemas.openxmlformats.org/officeDocument/2006/relationships" id="256" r:id="R5792c2951bd44911"/>
    <p:sldId xmlns:r="http://schemas.openxmlformats.org/officeDocument/2006/relationships" id="257" r:id="R2ea2f057742f473e"/>
    <p:sldId xmlns:r="http://schemas.openxmlformats.org/officeDocument/2006/relationships" id="258" r:id="Rc15c7d64ce0945e2"/>
    <p:sldId xmlns:r="http://schemas.openxmlformats.org/officeDocument/2006/relationships" id="259" r:id="Rbb77c3fb3f7e409e"/>
    <p:sldId xmlns:r="http://schemas.openxmlformats.org/officeDocument/2006/relationships" id="260" r:id="R4367781425f14313"/>
    <p:sldId xmlns:r="http://schemas.openxmlformats.org/officeDocument/2006/relationships" id="261" r:id="R9a702e106e594db4"/>
    <p:sldId xmlns:r="http://schemas.openxmlformats.org/officeDocument/2006/relationships" id="262" r:id="R92ad1e11c28e4c8e"/>
    <p:sldId xmlns:r="http://schemas.openxmlformats.org/officeDocument/2006/relationships" id="263" r:id="Rbbb09e56cccb48a2"/>
    <p:sldId xmlns:r="http://schemas.openxmlformats.org/officeDocument/2006/relationships" id="264" r:id="R726cdf9063344e89"/>
    <p:sldId xmlns:r="http://schemas.openxmlformats.org/officeDocument/2006/relationships" id="265" r:id="R41ffa9cf2f3f4eb4"/>
    <p:sldId xmlns:r="http://schemas.openxmlformats.org/officeDocument/2006/relationships" id="266" r:id="R14f40ca4fc1c4e1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55012946e4779" /><Relationship Type="http://schemas.openxmlformats.org/officeDocument/2006/relationships/theme" Target="/ppt/theme/theme1.xml" Id="R42596a966bbc4654" /><Relationship Type="http://schemas.openxmlformats.org/officeDocument/2006/relationships/notesMaster" Target="/ppt/notesMasters/notesMaster1.xml" Id="Ra7110ead99944b01" /><Relationship Type="http://schemas.openxmlformats.org/officeDocument/2006/relationships/presProps" Target="/ppt/presProps.xml" Id="R7c10be283394438e" /><Relationship Type="http://schemas.openxmlformats.org/officeDocument/2006/relationships/viewProps" Target="/ppt/viewProps.xml" Id="R9bb7e8adb3f34b83" /><Relationship Type="http://schemas.openxmlformats.org/officeDocument/2006/relationships/tableStyles" Target="/ppt/tableStyles.xml" Id="Rc40259cd0a8a425a" /><Relationship Type="http://schemas.openxmlformats.org/officeDocument/2006/relationships/slide" Target="/ppt/slides/slide1.xml" Id="R5792c2951bd44911" /><Relationship Type="http://schemas.openxmlformats.org/officeDocument/2006/relationships/slide" Target="/ppt/slides/slide2.xml" Id="R2ea2f057742f473e" /><Relationship Type="http://schemas.openxmlformats.org/officeDocument/2006/relationships/slide" Target="/ppt/slides/slide3.xml" Id="Rc15c7d64ce0945e2" /><Relationship Type="http://schemas.openxmlformats.org/officeDocument/2006/relationships/slide" Target="/ppt/slides/slide4.xml" Id="Rbb77c3fb3f7e409e" /><Relationship Type="http://schemas.openxmlformats.org/officeDocument/2006/relationships/slide" Target="/ppt/slides/slide5.xml" Id="R4367781425f14313" /><Relationship Type="http://schemas.openxmlformats.org/officeDocument/2006/relationships/slide" Target="/ppt/slides/slide6.xml" Id="R9a702e106e594db4" /><Relationship Type="http://schemas.openxmlformats.org/officeDocument/2006/relationships/slide" Target="/ppt/slides/slide7.xml" Id="R92ad1e11c28e4c8e" /><Relationship Type="http://schemas.openxmlformats.org/officeDocument/2006/relationships/slide" Target="/ppt/slides/slide8.xml" Id="Rbbb09e56cccb48a2" /><Relationship Type="http://schemas.openxmlformats.org/officeDocument/2006/relationships/slide" Target="/ppt/slides/slide9.xml" Id="R726cdf9063344e89" /><Relationship Type="http://schemas.openxmlformats.org/officeDocument/2006/relationships/slide" Target="/ppt/slides/slide10.xml" Id="R41ffa9cf2f3f4eb4" /><Relationship Type="http://schemas.openxmlformats.org/officeDocument/2006/relationships/slide" Target="/ppt/slides/slide11.xml" Id="R14f40ca4fc1c4e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e905469b4839421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f03cb33051c458e" /><Relationship Type="http://schemas.openxmlformats.org/officeDocument/2006/relationships/notesMaster" Target="/ppt/notesMasters/notesMaster1.xml" Id="R5cb4147a036a43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adc79e29bd46ab" /><Relationship Type="http://schemas.openxmlformats.org/officeDocument/2006/relationships/notesMaster" Target="/ppt/notesMasters/notesMaster1.xml" Id="R43068e57b0424f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e2b15e77fd4550" /><Relationship Type="http://schemas.openxmlformats.org/officeDocument/2006/relationships/notesMaster" Target="/ppt/notesMasters/notesMaster1.xml" Id="R47f4963b758246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a61a9d2efc04a82" /><Relationship Type="http://schemas.openxmlformats.org/officeDocument/2006/relationships/notesMaster" Target="/ppt/notesMasters/notesMaster1.xml" Id="Ra6e02fea598443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fbf6716c2442cb" /><Relationship Type="http://schemas.openxmlformats.org/officeDocument/2006/relationships/notesMaster" Target="/ppt/notesMasters/notesMaster1.xml" Id="R46de78e7b08245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8bd328b115b4992" /><Relationship Type="http://schemas.openxmlformats.org/officeDocument/2006/relationships/notesMaster" Target="/ppt/notesMasters/notesMaster1.xml" Id="R91c9be0ed3e94e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2d8345f34744d1" /><Relationship Type="http://schemas.openxmlformats.org/officeDocument/2006/relationships/notesMaster" Target="/ppt/notesMasters/notesMaster1.xml" Id="R6e2895f9ae6d499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30e59308c774bf5" /><Relationship Type="http://schemas.openxmlformats.org/officeDocument/2006/relationships/notesMaster" Target="/ppt/notesMasters/notesMaster1.xml" Id="R811e0b98a92245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237012dfd0425f" /><Relationship Type="http://schemas.openxmlformats.org/officeDocument/2006/relationships/notesMaster" Target="/ppt/notesMasters/notesMaster1.xml" Id="Rbdeeb1d880444b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d372d86b824b64" /><Relationship Type="http://schemas.openxmlformats.org/officeDocument/2006/relationships/notesMaster" Target="/ppt/notesMasters/notesMaster1.xml" Id="R0d93205f5259414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7bbf5b2b2d9467b" /><Relationship Type="http://schemas.openxmlformats.org/officeDocument/2006/relationships/notesMaster" Target="/ppt/notesMasters/notesMaster1.xml" Id="Raabd2338fc0a411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f02e9908764ea6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0400726142964191" /><Relationship Type="http://schemas.openxmlformats.org/officeDocument/2006/relationships/slideLayout" Target="/ppt/slideLayouts/slideLayout2.xml" Id="Rb28bf306206f4aa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28bf306206f4aa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bd00c3af7f4b8b" /><Relationship Type="http://schemas.openxmlformats.org/officeDocument/2006/relationships/image" Target="/ppt/media/image.png" Id="R19c3bb76ca864fe5" /><Relationship Type="http://schemas.openxmlformats.org/officeDocument/2006/relationships/image" Target="/ppt/media/image.svg" Id="R2ae462350bfb4bc7" /><Relationship Type="http://schemas.openxmlformats.org/officeDocument/2006/relationships/notesSlide" Target="/ppt/notesSlides/notesSlide1.xml" Id="Rabc60426a235430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22537e3996146db" /><Relationship Type="http://schemas.openxmlformats.org/officeDocument/2006/relationships/image" Target="/ppt/media/image2.png" Id="R35d11aac163c4bec" /><Relationship Type="http://schemas.openxmlformats.org/officeDocument/2006/relationships/notesSlide" Target="/ppt/notesSlides/notesSlide2.xml" Id="R32e12201c4254f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acfe033fac34ce1" /><Relationship Type="http://schemas.openxmlformats.org/officeDocument/2006/relationships/image" Target="/ppt/media/image3.png" Id="R46510f5c5bbc44e0" /><Relationship Type="http://schemas.openxmlformats.org/officeDocument/2006/relationships/notesSlide" Target="/ppt/notesSlides/notesSlide3.xml" Id="R819892e9118b499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e6b85c6128241aa" /><Relationship Type="http://schemas.openxmlformats.org/officeDocument/2006/relationships/image" Target="/ppt/media/image4.png" Id="R285600596c674ec2" /><Relationship Type="http://schemas.openxmlformats.org/officeDocument/2006/relationships/notesSlide" Target="/ppt/notesSlides/notesSlide4.xml" Id="Rb3e30c64f47244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46a411e46174977" /><Relationship Type="http://schemas.openxmlformats.org/officeDocument/2006/relationships/image" Target="/ppt/media/image5.png" Id="R0dec53874fb44fde" /><Relationship Type="http://schemas.openxmlformats.org/officeDocument/2006/relationships/notesSlide" Target="/ppt/notesSlides/notesSlide5.xml" Id="Rfa1dc100eb0147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1d453d9446488e" /><Relationship Type="http://schemas.openxmlformats.org/officeDocument/2006/relationships/image" Target="/ppt/media/image6.png" Id="Rc996837e73824b15" /><Relationship Type="http://schemas.openxmlformats.org/officeDocument/2006/relationships/notesSlide" Target="/ppt/notesSlides/notesSlide6.xml" Id="Ra92d6fa0af4d49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b342152ae64773" /><Relationship Type="http://schemas.openxmlformats.org/officeDocument/2006/relationships/image" Target="/ppt/media/image7.png" Id="Reb7240e299194edd" /><Relationship Type="http://schemas.openxmlformats.org/officeDocument/2006/relationships/notesSlide" Target="/ppt/notesSlides/notesSlide7.xml" Id="R300f69a9357445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46defcf9e3412a" /><Relationship Type="http://schemas.openxmlformats.org/officeDocument/2006/relationships/image" Target="/ppt/media/image8.png" Id="R44decc43de4f4eec" /><Relationship Type="http://schemas.openxmlformats.org/officeDocument/2006/relationships/notesSlide" Target="/ppt/notesSlides/notesSlide8.xml" Id="Rfe458bfb2aea4a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f148b04407a4da2" /><Relationship Type="http://schemas.openxmlformats.org/officeDocument/2006/relationships/image" Target="/ppt/media/image9.png" Id="R0ab76dd09c64416b" /><Relationship Type="http://schemas.openxmlformats.org/officeDocument/2006/relationships/notesSlide" Target="/ppt/notesSlides/notesSlide9.xml" Id="Rbec056c46d2e466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73c4c088a24eef" /><Relationship Type="http://schemas.openxmlformats.org/officeDocument/2006/relationships/image" Target="/ppt/media/image10.png" Id="Rcf7913c49a4b4e4f" /><Relationship Type="http://schemas.openxmlformats.org/officeDocument/2006/relationships/notesSlide" Target="/ppt/notesSlides/notesSlide10.xml" Id="R210c74add23248e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3e33eff182444a" /><Relationship Type="http://schemas.openxmlformats.org/officeDocument/2006/relationships/image" Target="/ppt/media/image11.png" Id="R099a185fd6c749d9" /><Relationship Type="http://schemas.openxmlformats.org/officeDocument/2006/relationships/notesSlide" Target="/ppt/notesSlides/notesSlide11.xml" Id="Rad0d4f935306458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B69339B-0E3A-4AD0-AD58-C4F79470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2B0578-EEFD-4D0C-8777-0E194A2F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3FB2B9-A9EB-4C70-861C-966382B6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GEOMETRICAL ALGORITHMS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EE5942-8C15-49FF-8CDB-7E958976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From slice data to a usable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635897-CF92-446A-9306-CC1D5126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Recover the boundary first. Then build a useful interior structure.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c3bb76ca864fe5">
            <a:extLst>
              <a:ext uri="{96DAC541-7B7A-43D3-8B79-37D633B846F1}">
                <asvg:svgBlip xmlns:asvg="http://schemas.microsoft.com/office/drawing/2016/SVG/main" r:embed="R2ae462350bfb4bc7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2286000" y="2000250"/>
            <a:ext cx="7620000" cy="24288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9187A-47F8-4DF6-938E-65217C323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33337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52258D-BB73-4A89-93F2-08877B7C2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D6B14B-1AD6-49FB-AE04-36B5D0D1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339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Core claim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542BBF-3732-40FA-B286-584243EC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76850"/>
            <a:ext cx="29337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This is one pipeline, not a list of unrelated algorithms. We solve boundary recovery and interior organization together.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49E85-E7B8-4C61-B431-D6514AB8D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62500"/>
            <a:ext cx="632460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AE077-68B2-48B5-AFC4-715CCE94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62500"/>
            <a:ext cx="571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8ADE04-6054-4386-A6AA-CB70A5A43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33950"/>
            <a:ext cx="5924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idea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71C097-054D-4F76-9812-6E5E9BE83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5276850"/>
            <a:ext cx="59245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Convex hull is the baseline. Winding gives inside-outside logic for the real boundary. Delaunay gives candidate interior edges. Winding filters those edges.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CFABB2-EC87-42CD-B1E5-2D3311FC8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01</a:t>
            </a:r>
          </a:p>
        </p:txBody>
      </p:sp>
    </p:spTree>
    <p:extLst>
      <p:ext uri="{BB962C8B-B14F-4D97-AF65-F5344CB8AC3E}">
        <p14:creationId xmlns:p14="http://schemas.microsoft.com/office/powerpoint/2010/main" val="10123866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EF99DFE-65EC-4C4F-BE41-8B989B229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3288FA-C8C4-48C5-98A2-B87F4DF4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CF2219-251D-42BC-B223-7E705D72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FDM MOTIVATION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30045-19B9-45E4-801B-699AFC3D1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Why FDM gives us this problem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11aac163c4bec"/>
          <a:stretch xmlns:a="http://schemas.openxmlformats.org/drawingml/2006/main"/>
        </p:blipFill>
        <p:spPr>
          <a:xfrm xmlns:a="http://schemas.openxmlformats.org/drawingml/2006/main">
            <a:off x="803763" y="1428750"/>
            <a:ext cx="10565423" cy="39243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8C0892-2048-44F1-B9EA-37D529603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76900"/>
            <a:ext cx="4476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0041AE-17D2-4616-AB6E-599C3191B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76900"/>
            <a:ext cx="57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115EAA-0240-494D-B390-BB1DBFC0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848350"/>
            <a:ext cx="407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479B5-8BCC-4F53-A4F9-A3B67314A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191250"/>
            <a:ext cx="407670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Each printed layer becomes a 2D geometry problem: contour, inside-outside logic, and a usable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358D29-47AD-478C-8C9C-B7D3C5BFE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76900"/>
            <a:ext cx="44386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271502-2553-4BDF-9393-54927BF4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76900"/>
            <a:ext cx="571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FAB64-BB91-48C6-A200-ED62542A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848350"/>
            <a:ext cx="4038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Link to the talk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CFF86-7712-4985-A794-E1FF2EE9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6191250"/>
            <a:ext cx="4038600" cy="-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That is why boundary recovery and interior structure belong to the same pipeline.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6042CBB-22E3-4DC1-9E37-49888E73E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02</a:t>
            </a:r>
          </a:p>
        </p:txBody>
      </p:sp>
    </p:spTree>
    <p:extLst>
      <p:ext uri="{BB962C8B-B14F-4D97-AF65-F5344CB8AC3E}">
        <p14:creationId xmlns:p14="http://schemas.microsoft.com/office/powerpoint/2010/main" val="169628213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4B41116-EE5E-4854-96BD-6EC7B2764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B806B5-2A41-4D5F-B543-004CF6B2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4CC28-E676-42B8-B07E-3F6ADB70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PROBLEM SPLIT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8D23C9-9494-4C30-978C-71B4A207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One slice has two jobs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D76301-435F-4CF2-8000-5B564460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Boundary alone is not enough. The inside must also be organized.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510f5c5bbc44e0"/>
          <a:stretch xmlns:a="http://schemas.openxmlformats.org/drawingml/2006/main"/>
        </p:blipFill>
        <p:spPr>
          <a:xfrm xmlns:a="http://schemas.openxmlformats.org/drawingml/2006/main">
            <a:off x="1123950" y="1749879"/>
            <a:ext cx="9810750" cy="364399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F9DA18-912E-48FB-BA4B-4E62454AC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44196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AFA7E3-F594-48F6-ACCB-D37EAEA58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197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E795E-47ED-4E61-88F0-5AF0415A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91200"/>
            <a:ext cx="4019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Reading the slide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309B7-4FA6-4029-99A8-0BB6BFDF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134100"/>
            <a:ext cx="4019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same slice is viewed twice: first as a boundary problem, then as an interior organization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739556-2F09-4612-821B-D223F0A8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44386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34534A-6439-48BD-BCAB-221FD6D7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765FF2-B275-4B33-A604-03B21119C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91200"/>
            <a:ext cx="40386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matters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986C6-016E-470D-8356-B023AF05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6134100"/>
            <a:ext cx="4038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This split is the reason the presentation has two phases instead of trying to force one algorithm to do everything.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038F9-ADFB-4714-B78F-98C3A0879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03</a:t>
            </a:r>
          </a:p>
        </p:txBody>
      </p:sp>
    </p:spTree>
    <p:extLst>
      <p:ext uri="{BB962C8B-B14F-4D97-AF65-F5344CB8AC3E}">
        <p14:creationId xmlns:p14="http://schemas.microsoft.com/office/powerpoint/2010/main" val="83054536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BFC787-4851-45B2-9FCE-D6FA8BAAE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929F41-510B-4E49-B245-B3319722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C4D686-38D8-434B-8C05-CF73811C3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RUNNING EXAMPLE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532147-E901-4898-8683-D1672C51F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Our slice-like input is the repo polygon `p2`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9BBA5B-13DF-418E-9A73-04567DDDB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We use one real repo polygon through the talk so the algorithms stay connected.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600596c674ec2"/>
          <a:stretch xmlns:a="http://schemas.openxmlformats.org/drawingml/2006/main"/>
        </p:blipFill>
        <p:spPr>
          <a:xfrm xmlns:a="http://schemas.openxmlformats.org/drawingml/2006/main">
            <a:off x="1868268" y="2000250"/>
            <a:ext cx="393109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DA7D63-9B01-45FD-A771-5FCA27E8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F9CAB7-52F2-422B-9DBD-30F86CAA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7DCE05-0541-4517-BA14-A0058557C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2669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`p2` is useful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BD4DFC-1FFD-49E3-B56A-1E4DA880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098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is not convex. So the example immediately exposes where a simple outer envelope loses information.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F977FE-BD79-4656-9663-B5F04646D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147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499D66-59E2-4AD7-B1D3-C3DA9F8C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147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3B0F1D-41FE-4F46-9FEC-A8CB2B13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4861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to notice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3D199-3875-4DA4-9976-98C967DC5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8290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There is a visible inward part of the shape. That feature must survive if we want the real boundary.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603B8F-6083-448C-839D-4F406661E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533900"/>
            <a:ext cx="33337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1E4BD9-64A2-43C3-82A7-509AA1E7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533900"/>
            <a:ext cx="5715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450F939-7452-4BE8-9C01-F009DE06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7053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we keep one dataset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51AA94-4C88-49C3-B49A-5D1E50BE1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5048250"/>
            <a:ext cx="29337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lets the audience compare all algorithms on the same geometry instead of changing examples every slide.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E549DF-5A67-4505-96C0-4F49FDB2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04</a:t>
            </a:r>
          </a:p>
        </p:txBody>
      </p:sp>
    </p:spTree>
    <p:extLst>
      <p:ext uri="{BB962C8B-B14F-4D97-AF65-F5344CB8AC3E}">
        <p14:creationId xmlns:p14="http://schemas.microsoft.com/office/powerpoint/2010/main" val="552867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B3C611-3294-422E-91DF-7550C7EA9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6D0BA3-E8E8-4891-AFE5-23F6AE59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384A1B-FF32-4E30-89C7-162F7D99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78D07E-D71C-4556-8D35-437189D4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Convex hull is a clean baseline, but it changes the shape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F8745-6D8C-4D4E-8EA5-860868E8E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Our monotone chain view sorts the points, builds two stacks, and keeps only convex turns.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ec53874fb44fde"/>
          <a:stretch xmlns:a="http://schemas.openxmlformats.org/drawingml/2006/main"/>
        </p:blipFill>
        <p:spPr>
          <a:xfrm xmlns:a="http://schemas.openxmlformats.org/drawingml/2006/main">
            <a:off x="1817156" y="2000250"/>
            <a:ext cx="3985688" cy="3476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1466AF-BC13-4656-8575-9726A30FB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3333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3F8508-57FF-4437-AE5A-0EBC17F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0955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256F3C-7EB5-42D8-A6CE-318C06F3A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2669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the algorithm does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F39ECE-A241-4E45-9453-F61E60CFF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609850"/>
            <a:ext cx="2933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keeps only the points needed for the smallest convex envelope around the set.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63639A-29C0-42F3-94ED-13DCD84F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33750"/>
            <a:ext cx="3333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E9331-559F-452A-A0BB-723340087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33375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37FEC-4CD2-48BE-95A3-5D6E70E2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50520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the demo shows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2D115-9015-46CE-A0A3-9A5470F7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848100"/>
            <a:ext cx="2933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Candidate point, orientation test, stack before, stack after, and the push-or-pop decision.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6B713E-76C1-40A1-95DF-0407B6F14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572000"/>
            <a:ext cx="33337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0EB65F-0D11-4F08-A7E6-EB0B3D13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572000"/>
            <a:ext cx="571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3A0903-EED9-4943-A07F-355965649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7434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it fails here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FFD01F-2C3D-42B5-8312-60541EE1E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5086350"/>
            <a:ext cx="2933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real shape is concave. The hull fills that inward part, so it is the wrong boundary for this slice.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5C7DEE-346B-4EF9-BE88-2D203527F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05</a:t>
            </a:r>
          </a:p>
        </p:txBody>
      </p:sp>
    </p:spTree>
    <p:extLst>
      <p:ext uri="{BB962C8B-B14F-4D97-AF65-F5344CB8AC3E}">
        <p14:creationId xmlns:p14="http://schemas.microsoft.com/office/powerpoint/2010/main" val="19471474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EA36507-2D23-4B4B-BB6C-2CCBD79C9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8ED4CB-6D43-405A-80CB-BD45F7C58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B20492-9C11-4B3D-B2D9-0C2F7181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BOUNDARY RECOVERY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91AFEC-3E6B-4BC6-B660-A09E2A29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Winding number asks the right boundary question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A815B-03CD-4DCC-8CA7-D3CE24D6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Instead of forcing a convex cover, it tests inside versus outside directly.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96837e73824b15"/>
          <a:stretch xmlns:a="http://schemas.openxmlformats.org/drawingml/2006/main"/>
        </p:blipFill>
        <p:spPr>
          <a:xfrm xmlns:a="http://schemas.openxmlformats.org/drawingml/2006/main">
            <a:off x="666750" y="2119171"/>
            <a:ext cx="6905625" cy="300065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34C7CC-4698-4082-B4B8-D3AB18BC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4121B6-EAEF-47AD-B8A7-4CD7B83FE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BC612F-D04D-43BF-BD99-4E09B43F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669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Main idea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40369A-4BED-4BD7-A944-4A5DA5AF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09850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Process one edge at a time and add its signed angle contribution around a query point.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6B646D-56D0-451C-8F2B-F813F0DD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231FA-F587-477F-9438-76D1B355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A1A357-1401-43CA-910D-1DDB5192B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it is better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163014-0C40-47B1-BCD1-A233DCBA2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00475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respects the actual polygon. It does not flatten concavities the way convex hull does.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07B67-EDEE-4458-91B0-6A6DD4FB3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1A2689-49DA-4CE5-A9EE-1123E4C1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E2C06C-1168-47B9-A62A-9B3BB4E1C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to show in the app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330FFF-64F2-41A1-8C7F-0FA40F359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91100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Current edge in green, query point in orange, and the running winding value after each edge.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C1B8E6-DE26-4C5A-84D1-905BC6F4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06</a:t>
            </a:r>
          </a:p>
        </p:txBody>
      </p:sp>
    </p:spTree>
    <p:extLst>
      <p:ext uri="{BB962C8B-B14F-4D97-AF65-F5344CB8AC3E}">
        <p14:creationId xmlns:p14="http://schemas.microsoft.com/office/powerpoint/2010/main" val="47563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E4A98C-746B-4E9F-801A-DFCE9A7CB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DE27F-DE17-442B-B207-E90A19977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CBC3B-5F8A-4062-BC59-3B9CF188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BOUNDARY ASSUMPTION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0108B1-A843-466B-A256-9E542738D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Closed and open polygons are not the same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7A01-14BF-4FF1-A334-17416D4E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final edge matters. If the loop is not closed, the winding sum changes.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7240e299194edd"/>
          <a:stretch xmlns:a="http://schemas.openxmlformats.org/drawingml/2006/main"/>
        </p:blipFill>
        <p:spPr>
          <a:xfrm xmlns:a="http://schemas.openxmlformats.org/drawingml/2006/main">
            <a:off x="666750" y="2119171"/>
            <a:ext cx="6905625" cy="3000658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56DBEA-74DE-4197-AEDE-91B2DC40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DCFB2-BF4F-49A1-997D-BA296235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9550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5C8A6E-414C-4556-B4E1-3020A6BF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6695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Closed mode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E6860B-0E7D-43C9-A0F3-5325949B7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609850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last vertex connects back to the first one, so the query point sees the full loop.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142550-07BA-41B8-A76E-0BCFEA69E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367820-8C3F-4F88-80BF-D4C9C6D2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347E85-C5FA-46ED-89AC-A32F5C7F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457575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Open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10DA5B-16F9-4901-A397-4B191CD2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00475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That final edge is missing. The algorithm does not silently invent it, so the result changes.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F4D1E4-3214-418F-BAB9-77FCC33E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31432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C665DA-1377-418B-A19B-A0E73639D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7675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8B10A6-069E-4C0F-ADCC-5AD7DBB4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2743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this slide matters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34C0FC9-05D0-436A-9016-08EC729B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991100"/>
            <a:ext cx="27432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makes the boundary assumption explicit and gives a clean transition from hulls to inside-outside tests.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862683-A855-42AF-ACEA-11EA15257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07</a:t>
            </a:r>
          </a:p>
        </p:txBody>
      </p:sp>
    </p:spTree>
    <p:extLst>
      <p:ext uri="{BB962C8B-B14F-4D97-AF65-F5344CB8AC3E}">
        <p14:creationId xmlns:p14="http://schemas.microsoft.com/office/powerpoint/2010/main" val="12794451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ED14E1-C9C1-48DE-B6B2-30BBC455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3C46D9-1AE5-4276-B4C7-5423179E7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8E9401-9ECE-4E83-8BD2-07D96793F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INTERIOR GOAL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7CFD75-B631-4F9D-8AAB-73001F36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Why we need interior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119A1C-E454-485A-9EBB-C825D6F20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contour gives the shell, but the inside still needs a local geometric organization.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decc43de4f4eec"/>
          <a:stretch xmlns:a="http://schemas.openxmlformats.org/drawingml/2006/main"/>
        </p:blipFill>
        <p:spPr>
          <a:xfrm xmlns:a="http://schemas.openxmlformats.org/drawingml/2006/main">
            <a:off x="1123950" y="1749879"/>
            <a:ext cx="9810750" cy="3643993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889FB9-9C9A-4E69-9692-E425F8045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19750"/>
            <a:ext cx="43624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707B609-0A6F-43FD-8EFF-A2B52E27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6197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262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D24D9-F86F-4D2F-8FF7-126A6A16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791200"/>
            <a:ext cx="39624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Main 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0D0E53-14A4-4794-A98E-A1CEDAD63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6134100"/>
            <a:ext cx="3962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 contour tells us where the slice ends, but it says almost nothing about relations inside the slice.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D8DE7AB-1BE9-403B-BC6D-7804E2B30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619750"/>
            <a:ext cx="4400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33F49-73EA-4F3D-BEC7-436BA768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619750"/>
            <a:ext cx="571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F23661-2F7A-4626-974B-9B90217FB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791200"/>
            <a:ext cx="4000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Bridge forward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89856B-31A2-443D-865C-FEADABE5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6134100"/>
            <a:ext cx="4000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Voronoi and Delaunay are useful because they add interior organization without abandoning the geometry of the slice.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7C6FD2-6A22-40A8-AF70-4C4369787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08</a:t>
            </a:r>
          </a:p>
        </p:txBody>
      </p:sp>
    </p:spTree>
    <p:extLst>
      <p:ext uri="{BB962C8B-B14F-4D97-AF65-F5344CB8AC3E}">
        <p14:creationId xmlns:p14="http://schemas.microsoft.com/office/powerpoint/2010/main" val="141262417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CF4024-95A5-4EA6-8C3F-24532CE2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AE06C1-695B-4C7C-9CA8-3F65AFDF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A39028-6E8F-47FD-98FB-55F639F0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VORONOI CONSTRUCTION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B53112-9AD8-4D63-A29E-E529EDE0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Fortune sweep builds the Voronoi structure event by event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56A8CA-AFF9-417E-99F1-3E270302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Site and circle events change the beachline and gradually produce the interior geometry.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b76dd09c64416b"/>
          <a:stretch xmlns:a="http://schemas.openxmlformats.org/drawingml/2006/main"/>
        </p:blipFill>
        <p:spPr>
          <a:xfrm xmlns:a="http://schemas.openxmlformats.org/drawingml/2006/main">
            <a:off x="1782180" y="2047875"/>
            <a:ext cx="4055639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8F3A45-2249-4C4F-B863-A007E1EE0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ABFBFD-85E9-43FC-9EA1-D3C7AEF4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442DE7-850B-4235-96FE-DF70E949E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6695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Who is processed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5F0EFC-992A-4792-8C24-EC09B61FC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09850"/>
            <a:ext cx="2933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At each step the event is either a new site or a circle event where one beachline arc disappears.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72A85F-7D10-4B37-84A3-67CE3E69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86125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371B7C-E54D-418E-B2EB-4B5A145E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86125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701F2-6B23-411F-ACE1-9CC1ADB09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57575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changes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9EA746-3E54-4212-82FA-06E8451B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00475"/>
            <a:ext cx="2933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The beachline changes, Voronoi segments start growing, and some edges become final.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8FE125-4F46-4E41-ABAE-42B5D8654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76750"/>
            <a:ext cx="33337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F3689B-2F03-4BCC-8903-2EDA56BE4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7675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15FECA-5B76-499E-955A-1C717B7B0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48200"/>
            <a:ext cx="2933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What to say in the demo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D3E04F-F971-46A0-8652-A82B3DBC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91100"/>
            <a:ext cx="29337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Show one site event and one circle event. The goal is the mechanism, not every low-level detail.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015E68-0BFC-45BD-9506-99AFD8BE0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09</a:t>
            </a:r>
          </a:p>
        </p:txBody>
      </p:sp>
    </p:spTree>
    <p:extLst>
      <p:ext uri="{BB962C8B-B14F-4D97-AF65-F5344CB8AC3E}">
        <p14:creationId xmlns:p14="http://schemas.microsoft.com/office/powerpoint/2010/main" val="903717466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B11EA6-2485-4A71-90C8-D5DE4564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EA8372-472B-4557-BCDD-967DFC55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61127D-1108-4EA8-90BE-43E4BF26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INTERIOR GRAPH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1A3B84-DE1F-4776-ADE5-AF4DCA082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Delaunay gives the interior neighbor 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7F29C2-F835-4010-92BA-C09AE69B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is better than arbitrary links because it comes from Voronoi region adjacency.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7913c49a4b4e4f"/>
          <a:stretch xmlns:a="http://schemas.openxmlformats.org/drawingml/2006/main"/>
        </p:blipFill>
        <p:spPr>
          <a:xfrm xmlns:a="http://schemas.openxmlformats.org/drawingml/2006/main">
            <a:off x="1761693" y="2047875"/>
            <a:ext cx="4191865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9514E-9930-499E-B171-0A09C1CE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95500"/>
            <a:ext cx="3381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140A83-5D9C-4B61-8ECF-0D22D906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09550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68057B-1019-4C1B-A9B6-0A09CEDD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266950"/>
            <a:ext cx="29813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Delaunay is principled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FC9B59-09C8-46F0-B411-4E3A6583B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2609850"/>
            <a:ext cx="29813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If two Voronoi regions touch, their sites become neighbors. So the graph is grounded in nearest-site geometry.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1E6454-C55A-41B3-A9FC-2D4193A7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286125"/>
            <a:ext cx="3381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FD82F3-F1EE-49E5-96E5-816479CE9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286125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D9E7B3-1D0C-4742-BDD6-9D37DF97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457575"/>
            <a:ext cx="29813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Why it is better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2FBDE6-9237-4A71-8E5A-3FB9E17F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3800475"/>
            <a:ext cx="29813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It preserves local neighborhood relations instead of inventing random or long interior connections.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05599F-406C-4273-9640-3A44E50BA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76750"/>
            <a:ext cx="3381375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8F928A-2CB7-49C6-A129-9E2D28C7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47675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F5739-61BE-48D5-9C94-513004C10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648200"/>
            <a:ext cx="29813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But not enough alone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B3FBA1-5159-40A9-BF1A-F2A265AD7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0925" y="4991100"/>
            <a:ext cx="2981325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Raw Delaunay does not know which edges fall outside the intended boundary. So we still need the winding test.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845F5D-9914-4A80-B1F4-0B41D7604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10</a:t>
            </a:r>
          </a:p>
        </p:txBody>
      </p:sp>
    </p:spTree>
    <p:extLst>
      <p:ext uri="{BB962C8B-B14F-4D97-AF65-F5344CB8AC3E}">
        <p14:creationId xmlns:p14="http://schemas.microsoft.com/office/powerpoint/2010/main" val="201142378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DD9DB2D-7F97-46DE-A77C-6598F30F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DE9407-0480-4506-9BC9-EF3A74E9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C75B6D-9BC7-465A-96EE-5EBF5E780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477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A580C"/>
                </a:solidFill>
                <a:latin typeface="Aptos"/>
                <a:ea typeface="Aptos"/>
                <a:cs typeface="Aptos"/>
              </a:rPr>
              <a:t>FINAL PIPELINE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439A0-51D0-4699-8F16-49E8F5D6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7524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11827"/>
                </a:solidFill>
                <a:latin typeface="Aptos Display"/>
                <a:ea typeface="Aptos Display"/>
                <a:cs typeface="Aptos Display"/>
              </a:rPr>
              <a:t>Winding filters Delaunay into the final interior structure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44CF86-145D-44AB-8472-1C0495E2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7810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Delaunay proposes candidate edges. Winding keeps only the ones that stay inside the shape.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9a185fd6c749d9"/>
          <a:stretch xmlns:a="http://schemas.openxmlformats.org/drawingml/2006/main"/>
        </p:blipFill>
        <p:spPr>
          <a:xfrm xmlns:a="http://schemas.openxmlformats.org/drawingml/2006/main">
            <a:off x="1844455" y="2047875"/>
            <a:ext cx="3931090" cy="34290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6A66D-F7BE-4209-9F7E-E2113CD4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3429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30CD9-614C-41D2-B172-7915AC01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580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6A06C9-9431-459E-AB35-EB074FE5C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266950"/>
            <a:ext cx="3028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Filter rule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B4E9B4-0897-43B0-A22D-9B1323AB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09850"/>
            <a:ext cx="3028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Take one Delaunay edge, test its midpoint with winding number, keep it if the midpoint is inside.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C63AE-0025-473A-A021-95A37B502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86125"/>
            <a:ext cx="3429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FB9E53-037B-404F-80A9-650DFDEF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86125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706DFD-3036-4118-8C13-E1AB668B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457575"/>
            <a:ext cx="3028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Final picture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98E34-B961-4AA5-8EA2-A6615352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800475"/>
            <a:ext cx="3028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Black is the recovered boundary. Blue is the interior graph that survives the boundary test.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E0F389-854E-451F-BA42-54B3F75F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76750"/>
            <a:ext cx="3429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BE4F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B3E4C2-324E-4A47-9B13-BD3AAE67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76750"/>
            <a:ext cx="5715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20BDE6-5970-46D0-A151-39A6CC270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48200"/>
            <a:ext cx="3028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11827"/>
                </a:solidFill>
                <a:latin typeface="Aptos"/>
                <a:ea typeface="Aptos"/>
                <a:cs typeface="Aptos"/>
              </a:rPr>
              <a:t>End message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9EC098-F69B-4FC0-805E-685EF0DF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991100"/>
            <a:ext cx="30289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Convex hull gives the baseline, winding gives the real boundary logic, and Delaunay gives the interior candidates.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FB41B5-2E4A-4C69-8019-F801FDACE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477000"/>
            <a:ext cx="18097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94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94A3B8"/>
                </a:solidFill>
                <a:latin typeface="Aptos"/>
                <a:ea typeface="Aptos"/>
                <a:cs typeface="Aptos"/>
              </a:rPr>
              <a:t>GA presentation · 11</a:t>
            </a:r>
          </a:p>
        </p:txBody>
      </p:sp>
    </p:spTree>
    <p:extLst>
      <p:ext uri="{BB962C8B-B14F-4D97-AF65-F5344CB8AC3E}">
        <p14:creationId xmlns:p14="http://schemas.microsoft.com/office/powerpoint/2010/main" val="13207772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2026-05-28T07:24:06.2310000Z</dcterms:created>
  <dcterms:modified xsi:type="dcterms:W3CDTF">2026-05-28T07:24:06.2310000Z</dcterms:modified>
</coreProperties>
</file>